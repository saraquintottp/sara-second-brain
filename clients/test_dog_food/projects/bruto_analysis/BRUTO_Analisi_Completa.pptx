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FFFF"/>
                </a:solidFill>
              </a:defRPr>
            </a:pPr>
            <a:r>
              <a:t>BRUTO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794760"/>
            <a:ext cx="9445752" cy="64008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E000"/>
                </a:solidFill>
              </a:defRPr>
            </a:pPr>
            <a:r>
              <a:t>Analisi di Fattibilità · Business Idea · Pet Food DTC Italia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</a:defRPr>
            </a:pPr>
            <a:r>
              <a:t>TTP AI Agency  ·  5 agenti  ·  1.566+ righe di analisi  ·  2026-05-20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"Nutri l'Istinto"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Metodologia — 5 Agenti · 4 Framework · 1.566+ Righe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2377440" cy="5303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000"/>
                </a:solidFill>
              </a:defRPr>
            </a:pPr>
            <a:r>
              <a:t>Strategist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14300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VPC · JTBD · De Veglia · Lean Canvas · GTM · Consumer Testing (746 righe)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2377440" cy="5303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9222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000"/>
                </a:solidFill>
              </a:defRPr>
            </a:pPr>
            <a:r>
              <a:t>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10512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7 brand internazionali verificati · Mercato raw/instinct · Anti-mktg FMCG (378 righe)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86584"/>
            <a:ext cx="2377440" cy="5303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5973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000"/>
                </a:solidFill>
              </a:defRPr>
            </a:pPr>
            <a:r>
              <a:t>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78024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COGS · LTV/CAC · P&amp;L Anno 1 · Funding · Sensitivity analysis (442 righe)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54096"/>
            <a:ext cx="2377440" cy="5303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272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000"/>
                </a:solidFill>
              </a:defRPr>
            </a:pPr>
            <a:r>
              <a:t>Sparring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145536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Devil's advocate su 6 aree · Sfide genuine · Verdetto avversariale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21608"/>
            <a:ext cx="2377440" cy="5303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000"/>
                </a:solidFill>
              </a:defRPr>
            </a:pPr>
            <a:r>
              <a:t>God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81304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Scorecard qualità 5 dim. · Kill/Go Conditions · Consumer Testing review · Raccomandazione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</a:defRPr>
            </a:pPr>
            <a:r>
              <a:t>Framework: VPC · JTBD (Christensen) · De Veglia Positioning · Lean Canvas (Maurya) · Porter 5F · Messy Middle B2C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</a:defRPr>
            </a:pPr>
            <a:r>
              <a:t>Evidenza classificata: [ALTO] · [MEDIO] · [BASSO] · [NF] · [STIMA] · [BENCHMARK] · [ASSUNZIONE]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Il Mercato — Pet Food Italia 2025 (NIQ)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2834640" cy="173736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E000"/>
                </a:solidFill>
              </a:defRPr>
            </a:pPr>
            <a:r>
              <a:t>€ 3,6 MLD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Mercato totale Italia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51560"/>
            <a:ext cx="2834640" cy="173736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E000"/>
                </a:solidFill>
              </a:defRPr>
            </a:pPr>
            <a:r>
              <a:t>€ 451 MLN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Canale online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2834640" cy="173736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E000"/>
                </a:solidFill>
              </a:defRPr>
            </a:pPr>
            <a:r>
              <a:t>+8,2% 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Crescita online 2024→25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051560"/>
            <a:ext cx="2834640" cy="173736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E000"/>
                </a:solidFill>
              </a:defRPr>
            </a:pPr>
            <a:r>
              <a:t>2 soli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Brand DTC nazionali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2926080"/>
          <a:ext cx="11521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9436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Prodotto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Tono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Dog Heroes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Fresh (umido fresco)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€5M+ funding · 25K cani · 3.8/5 Trustp.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Professionale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Amusi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Kibble premium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No funding noto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Generico/neutro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BRUTO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Kibble + umido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Lancio — posizione da costruire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Provocatorio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54864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</a:defRPr>
            </a:pPr>
            <a:r>
              <a:t>White space confermato: quadrante Anticonvenzionale + Accessibile = VUOTO al maggio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Le 3 Proposte — Scorecard Comparativa (8 Dimensioni Ponderate)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40312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56235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Dimensione (peso)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BRUTO ✅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NESSUNA ETICHETTA ⚠️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VITADACANI ❌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Naming (15%)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9 — corto, UIBM registrato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5 — paradosso su etichetta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 — idioma negativo IT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Identità visiva (15%)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9 — nero unico nel mercato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7 — multi-colore ambizioso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6 — simile mercato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Tono di voce (15%)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9 — regole copy esplicite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8 — forte ma multi-territorio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5 — generico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Differenziazione (15%)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9 — quadrante vuoto owned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8 — white space identificato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 — territorio affollato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Target alignment (10%)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8 — Greta ≈ Chiara La Sveglia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9 — ricerca proprietaria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5 — troppo broad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Profondità strategica (10%)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7 — filosofia solida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9 — 6 documenti analitici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 — solo concept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Fattibilità PMI (10%)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8 — packaging low cost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5 — statuette complesse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7 — semplice ma vago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Solidità legale (10%)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9 — UIBM fatto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 — UIBM non fatto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3 — espressione comune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SCORE PONDERATO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8,60 / 10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6,90 / 10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4,75 / 10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I 3 Segnali Forti — Perché BRUTO Funziona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868680" cy="1417320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39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51560"/>
            <a:ext cx="10588752" cy="141732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124712"/>
            <a:ext cx="10287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000"/>
                </a:solidFill>
              </a:defRPr>
            </a:pPr>
            <a:r>
              <a:t>White space reale e vuoto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72767"/>
            <a:ext cx="10287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Ricerca attiva a maggio 2026: nessun brand italiano usa packaging nero + TOV provocatorio + naming raw nel DTC pet food. Confermato da Explorer (T024): la finestra esiste.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79191"/>
            <a:ext cx="868680" cy="1417320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090672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2679191"/>
            <a:ext cx="10588752" cy="141732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752344"/>
            <a:ext cx="10287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000"/>
                </a:solidFill>
              </a:defRPr>
            </a:pPr>
            <a:r>
              <a:t>Il naming è il solo asset non replicabile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00399"/>
            <a:ext cx="10287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"Bruto" è già registrato UIBM. Un competitor può copiare il packaging nero, imitare il TOV, replicare il codice-colore proteina. Il nome 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06824"/>
            <a:ext cx="868680" cy="1417320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718304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306824"/>
            <a:ext cx="10588752" cy="141732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379976"/>
            <a:ext cx="10287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000"/>
                </a:solidFill>
              </a:defRPr>
            </a:pPr>
            <a:r>
              <a:t>Il meccanismo emotivo ha precedenti internazionali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828032"/>
            <a:ext cx="10287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"L'Istinto ha Ragione" inverte il framework dell'ansia che tutti i competitor usano. Liquid Death ($333M), Oatly ($421M): l'inversione dei codici di categoria scala — se il prodotto è autentico.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Value Proposition Canvas — BRUTO (Osterwalder)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440680" cy="557784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000"/>
                </a:solidFill>
              </a:defRPr>
            </a:pPr>
            <a:r>
              <a:t>CUSTOMER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Chiara 'La Sveglia' — 30-38F, urbana, €100-130/mese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64792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E000"/>
                </a:solidFill>
              </a:defRPr>
            </a:pPr>
            <a:r>
              <a:t>JOBS: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Nutrire il cane con qualità verificabile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Sentirsi proprietario competente, non ansioso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Acquistare online in modo pratico e ricorrente</a:t>
            </a:r>
          </a:p>
          <a:p>
            <a:pPr>
              <a:defRPr sz="700" b="0">
                <a:solidFill>
                  <a:srgbClr val="FFFFFF"/>
                </a:solidFill>
              </a:defRPr>
            </a:pPr>
          </a:p>
          <a:p>
            <a:pPr>
              <a:defRPr sz="1100" b="1">
                <a:solidFill>
                  <a:srgbClr val="FFE000"/>
                </a:solidFill>
              </a:defRPr>
            </a:pPr>
            <a:r>
              <a:t>PAINS: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Marketing sdolcinato e infantilizzante  🔴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Ingredienti opachi ("proteine animali" anonime)  🔴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Prezzi premium senza proof point  🟡</a:t>
            </a:r>
          </a:p>
          <a:p>
            <a:pPr>
              <a:defRPr sz="700" b="0">
                <a:solidFill>
                  <a:srgbClr val="FFFFFF"/>
                </a:solidFill>
              </a:defRPr>
            </a:pPr>
          </a:p>
          <a:p>
            <a:pPr>
              <a:defRPr sz="1100" b="1">
                <a:solidFill>
                  <a:srgbClr val="FFE000"/>
                </a:solidFill>
              </a:defRPr>
            </a:pPr>
            <a:r>
              <a:t>GAINS: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Sapere davvero cosa mangia il cane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Brand che la rispetta come adulta ironica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Community anti-Instagram (UGC @mangia_bruto)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960120"/>
            <a:ext cx="5742432" cy="557784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005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000"/>
                </a:solidFill>
              </a:defRPr>
            </a:pPr>
            <a:r>
              <a:t>VALUE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898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BRUTO — brand + prodotto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64792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E000"/>
                </a:solidFill>
              </a:defRPr>
            </a:pPr>
            <a:r>
              <a:t>PAIN RELIEVERS: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TOV adulto: nessun 'pelosetto', nessun 'piccolo angelo'  ✅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Lista ingredienti clean label: 'carne = carne'  ✅ (parz.)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Naming che non infantilizza  ✅</a:t>
            </a:r>
          </a:p>
          <a:p>
            <a:pPr>
              <a:defRPr sz="700" b="0">
                <a:solidFill>
                  <a:srgbClr val="FFFFFF"/>
                </a:solidFill>
              </a:defRPr>
            </a:pPr>
          </a:p>
          <a:p>
            <a:pPr>
              <a:defRPr sz="1100" b="1">
                <a:solidFill>
                  <a:srgbClr val="FFE000"/>
                </a:solidFill>
              </a:defRPr>
            </a:pPr>
            <a:r>
              <a:t>GAIN CREATORS: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Brand identity forte e coerente (nero unico)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Community UGC — senso di appartenenza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t>• Packaging come status signal anti-mainstream</a:t>
            </a:r>
          </a:p>
          <a:p>
            <a:pPr>
              <a:defRPr sz="700" b="0">
                <a:solidFill>
                  <a:srgbClr val="FFFFFF"/>
                </a:solidFill>
              </a:defRPr>
            </a:pPr>
          </a:p>
          <a:p>
            <a:pPr>
              <a:defRPr sz="1100" b="1">
                <a:solidFill>
                  <a:srgbClr val="FFE000"/>
                </a:solidFill>
              </a:defRPr>
            </a:pPr>
            <a:r>
              <a:t>FIT ASSESSMENT:</a:t>
            </a:r>
          </a:p>
          <a:p>
            <a:pPr>
              <a:defRPr sz="1000" b="1">
                <a:solidFill>
                  <a:srgbClr val="FF8800"/>
                </a:solidFill>
              </a:defRPr>
            </a:pPr>
            <a:r>
              <a:t>⚠️ Problem-Solution Fit ipotetico</a:t>
            </a:r>
          </a:p>
          <a:p>
            <a:pPr>
              <a:defRPr sz="1000" b="0">
                <a:solidFill>
                  <a:srgbClr val="FF8800"/>
                </a:solidFill>
              </a:defRPr>
            </a:pPr>
            <a:r>
              <a:t>Chiara non ha ancora incontrato dati primari</a:t>
            </a:r>
          </a:p>
          <a:p>
            <a:pPr>
              <a:defRPr sz="1000" b="0">
                <a:solidFill>
                  <a:srgbClr val="FF8800"/>
                </a:solidFill>
              </a:defRPr>
            </a:pPr>
            <a:r>
              <a:t>→ Consumer testing è il passo obbligatorio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520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000"/>
                </a:solidFill>
              </a:defRPr>
            </a:pPr>
            <a:r>
              <a:t>⟺ FIT?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JTBD — Christensen: Chi Assume BRUTO e Perché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40312" cy="77724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E000"/>
                </a:solidFill>
              </a:defRPr>
            </a:pPr>
            <a:r>
              <a:t>JOB: «Quando riacquisto il cibo per il cane e sento frustrazione per il marketing sdolcinato del brand attuale, voglio trovare un'alternativa che rispetti la mia intelligenza, così da sentirmi competente — non ansioso.»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000"/>
                </a:solidFill>
              </a:defRPr>
            </a:pPr>
            <a:r>
              <a:t>4 FORZE DEL CAMBIO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331720"/>
            <a:ext cx="2834640" cy="237744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2834640" cy="457200"/>
          </a:xfrm>
          <a:prstGeom prst="rect">
            <a:avLst/>
          </a:prstGeom>
          <a:solidFill>
            <a:srgbClr val="E4001F"/>
          </a:solidFill>
          <a:ln>
            <a:solidFill>
              <a:srgbClr val="E40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🔥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52928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Frustrazione brand attuale:</a:t>
            </a:r>
            <a:br/>
            <a:r>
              <a:t>marketing infantilizzante,</a:t>
            </a:r>
            <a:br/>
            <a:r>
              <a:t>ingredienti opachi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1" y="2331720"/>
            <a:ext cx="2834640" cy="237744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1" y="2331720"/>
            <a:ext cx="2834640" cy="457200"/>
          </a:xfrm>
          <a:prstGeom prst="rect">
            <a:avLst/>
          </a:prstGeom>
          <a:solidFill>
            <a:srgbClr val="00AAFF"/>
          </a:solidFill>
          <a:ln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1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⭐ PULL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2852928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Attrazione BRUTO:</a:t>
            </a:r>
            <a:br/>
            <a:r>
              <a:t>naming diretto,</a:t>
            </a:r>
            <a:br/>
            <a:r>
              <a:t>black packaging,</a:t>
            </a:r>
            <a:br/>
            <a:r>
              <a:t>community @mangia_bruto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3" y="2331720"/>
            <a:ext cx="2834640" cy="237744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3" y="2331720"/>
            <a:ext cx="2834640" cy="457200"/>
          </a:xfrm>
          <a:prstGeom prst="rect">
            <a:avLst/>
          </a:prstGeom>
          <a:solidFill>
            <a:srgbClr val="FF8800"/>
          </a:solidFill>
          <a:ln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3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😰 ANSIA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3" y="2852928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Freno principale:</a:t>
            </a:r>
            <a:br/>
            <a:r>
              <a:t>«E se la qualità</a:t>
            </a:r>
            <a:br/>
            <a:r>
              <a:t>non mantiene</a:t>
            </a:r>
            <a:br/>
            <a:r>
              <a:t>la promessa?»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72015" y="2331720"/>
            <a:ext cx="2834640" cy="237744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72015" y="2331720"/>
            <a:ext cx="2834640" cy="457200"/>
          </a:xfrm>
          <a:prstGeom prst="rect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5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🔄 ABITUDINE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5" y="2852928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Comodità attuale:</a:t>
            </a:r>
            <a:br/>
            <a:r>
              <a:t>sottoscrizione attiva,</a:t>
            </a:r>
            <a:br/>
            <a:r>
              <a:t>il cane lo mangia già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8920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</a:defRPr>
            </a:pPr>
            <a:r>
              <a:t>Big Hire Moment: riacquisto + frustrazione accumulata (non ricerca attiva)  ·  Leva: trial basso rischio + UGC seed prime 12 sett.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34924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800"/>
                </a:solidFill>
              </a:defRPr>
            </a:pPr>
            <a:r>
              <a:t>⚠️ CRITICAL: 'guilt relief' funziona sul 10-15% del mercato online — non 30-40%. BRUTO non è un brand per tutti. Non deve esserlo.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Posizionamento — Framework De Veglia (Zero Concorrenti)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40312" cy="96012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E000"/>
                </a:solidFill>
              </a:defRPr>
            </a:pPr>
            <a:r>
              <a:t>BRAND POSITIONING FORMULA: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BRUTO è l'unico brand di pet food che nutre i cani per quello che sono — compagni di vita istintivi, non oggetti di performance — per i proprietari italiani che rifiutano il marketing dell'ansia e vogliono ingredienti trasparenti senza essere trattati da bambini.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84831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000"/>
                </a:solidFill>
              </a:defRPr>
            </a:pPr>
            <a:r>
              <a:t>3 IDEE DIFFERENZIANTI (gerarchia):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14600"/>
            <a:ext cx="1005840" cy="1371600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89864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#1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514600"/>
            <a:ext cx="10543032" cy="137160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57860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000"/>
                </a:solidFill>
              </a:defRPr>
            </a:pPr>
            <a:r>
              <a:t>L'istinto come verità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90088"/>
            <a:ext cx="10241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Il cane mangia come natura ha fatto. Competitor NON dicono 'l'istinto ha ragione' → spazio libero ✅</a:t>
            </a:r>
            <a:br/>
            <a:r>
              <a:t>⚠️ Sparring: è spazio libero perché è un'opportunità, o perché nessuno lo vuole?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005072"/>
            <a:ext cx="1005840" cy="1371600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38912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#2 PROOF 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005072"/>
            <a:ext cx="10543032" cy="137160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0690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000"/>
                </a:solidFill>
              </a:defRPr>
            </a:pPr>
            <a:r>
              <a:t>Trasparenza ingredientistica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80560"/>
            <a:ext cx="10241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Carne = carne. Verificabile su etichetta da Chiara. Operativamente dipende dal co-packer scelto.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495544"/>
            <a:ext cx="1005840" cy="1371600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87959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#3 ESECUZIONE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495544"/>
            <a:ext cx="10543032" cy="137160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555955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000"/>
                </a:solidFill>
              </a:defRPr>
            </a:pPr>
            <a:r>
              <a:t>Visual punk / Minimalismo Provocatorio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971031"/>
            <a:ext cx="10241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Nero + Chihuahua borchiato + giallo fluo. Unico nel mercato. Copiabile → non il differenziante più duraturo.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Benchmark Internazionale — 7 Brand Verificati (Explorer T024)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4031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67437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Brand / Paese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Revenue / Status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Vettore comune a BRUTO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Lezione chiave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Instinct (USA)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$250-500M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Naming 'Instinct' = identico al territorio BRUTO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Il claim funziona commercialmente a scala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Orijen/Acana (CA)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$295M → acquisito Mars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Packaging nero/antracite globale, premium raw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€295M a dark packaging. Mars lo ha comprato.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Primal Pet (USA)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$95M, rebrand 2024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Rebranding verso visual più bold/scuri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Il premium si muove verso dark/bold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Wildborn (DE)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N/D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Packaging scuro, grain-free, mercato europeo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Pattern dark funziona in EU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Rebel Raw (USA)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4.99/5 rating, DTC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Naming 'rebel' + raw + DTC-first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DTC con naming provocatorio è viabile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Liquid Death (USA)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$333M, $1.4B val.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Anti-mktg totale, inversione codici di categoria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Meccanismo replicabile se prodotto è autentico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Oatly (SWE/USA)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$421M revenue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Anti-establishment food brand a scala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Scala internazionale con TOV da sfidante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800"/>
                </a:solidFill>
              </a:defRPr>
            </a:pPr>
            <a:r>
              <a:t>⚠️ Survivorship bias: questi sono i vincitori sopravvissuti. Il tasso di fallimento DTC pet food &lt;€300K non è disponibile nei dati pubblici.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Unit Economics — COGS e Margini (Calculator T025)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875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E000"/>
                </a:solidFill>
              </a:defRPr>
            </a:pPr>
            <a:r>
              <a:t>SKU A — Crocchette Premium 2kg (driver revenue principale) · tutti i valori sono [STIMA] — validare con preventivo co-packer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7406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Voce costo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Valore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Nota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Ingredienti (25-30% carne)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€ 3,20/sacco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[STIMA] benchmark co-packer premium IT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Produzione / co-packing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€ 1,20-1,50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[STIMA] senza preventivo reale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Packaging nero matte + spot fluo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€ 1,50-1,80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[STIMA] +€0,50-0,90 vs. standard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Etichettatura + compliance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€ 0,35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[STIMA]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Logistica inbound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€ 0,30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[STIMA]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COGS TOTALE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€ 6,58/sacco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[STIMA] — validare con preventivo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0" y="1417320"/>
          <a:ext cx="4114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8006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E000"/>
                          </a:solidFill>
                        </a:defRPr>
                      </a:pPr>
                      <a:r>
                        <a:t>Prezzo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E000"/>
                          </a:solidFill>
                        </a:defRPr>
                      </a:pPr>
                      <a:r>
                        <a:t>Margine €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E000"/>
                          </a:solidFill>
                        </a:defRPr>
                      </a:pPr>
                      <a:r>
                        <a:t>Margine %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€ 12,00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€ 5,42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€ 15,00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€ 8,42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56% ← target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€ 18,00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€ 11,42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34290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800"/>
                </a:solidFill>
              </a:defRPr>
            </a:pPr>
            <a:r>
              <a:t>⚠️ Packaging nero BRUTO inevitable:</a:t>
            </a:r>
            <a:br/>
            <a:r>
              <a:t>rinunciare al nero distrugge il posizionamento.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000"/>
                </a:solidFill>
              </a:defRPr>
            </a:pPr>
            <a:r>
              <a:t>SKU B — Umido 400g · COGS €2,10-2,50/latta · Target: €4,50-5,50 · Margine 40-50%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16636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800"/>
                </a:solidFill>
              </a:defRPr>
            </a:pPr>
            <a:r>
              <a:t>⚠️ Revenue driver solo in multipack (4+). Latta singola non regge i costi di fulfillment DTC.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62356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444"/>
                </a:solidFill>
              </a:defRPr>
            </a:pPr>
            <a:r>
              <a:t>Nota MOQ (Sparring Partner T026): primo lotto multi-SKU stimato €40-80K — può esaurire il budget da €50K prima del lancio.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LTV / CAC / Break-even — Viabilità del Modello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87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000"/>
                </a:solidFill>
              </a:defRPr>
            </a:pPr>
            <a:r>
              <a:t>LTV NETTO (12 mesi)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89888"/>
          <a:ext cx="53035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52120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E000"/>
                          </a:solidFill>
                        </a:defRPr>
                      </a:pPr>
                      <a:r>
                        <a:t>Churn mensile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E000"/>
                          </a:solidFill>
                        </a:defRPr>
                      </a:pPr>
                      <a:r>
                        <a:t>LTV netto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E000"/>
                          </a:solidFill>
                        </a:defRPr>
                      </a:pP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5% (ottimistico)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€ 437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8% (base)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€ 273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10% (conservativo)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€ 218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15% (pessimistico)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€ 146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98755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000"/>
                </a:solidFill>
              </a:defRPr>
            </a:pPr>
            <a:r>
              <a:t>CAC BLENDED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389888"/>
          <a:ext cx="59436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4343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E000"/>
                          </a:solidFill>
                        </a:defRPr>
                      </a:pPr>
                      <a:r>
                        <a:t>Canale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E000"/>
                          </a:solidFill>
                        </a:defRPr>
                      </a:pPr>
                      <a:r>
                        <a:t>CAC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Organic SEO + UGC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€0 — ma 6+ mesi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Meta Ads IT (proxy USA 2024)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€25-80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Micro-influencer gifting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€10-20 stimato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Blended conservativo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€55-70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Blended base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€35-50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416052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000"/>
                </a:solidFill>
              </a:defRPr>
            </a:pPr>
            <a:r>
              <a:t>LTV : CAC RATIO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553712"/>
          <a:ext cx="7772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LTV:CAC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Giudizio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Ottimistico (LTV €437, CAC €35)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12,5:1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✅ Eccellente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Base (LTV €273, CAC €50)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5,5:1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✅ Buono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Conservativo (LTV €218, CAC €70)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3,1:1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⚠️ Soglia minima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Pessimistico (CAC e churn insieme)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&lt;2:1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❌ Non sostenibile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412480" y="4160520"/>
            <a:ext cx="3474720" cy="233172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425196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E000"/>
                </a:solidFill>
              </a:defRPr>
            </a:pPr>
            <a:r>
              <a:t>BREAK-EVEN</a:t>
            </a:r>
            <a:br/>
            <a:br/>
            <a:r>
              <a:t>118-159</a:t>
            </a:r>
            <a:br/>
            <a:r>
              <a:t>clienti attivi</a:t>
            </a:r>
            <a:br/>
            <a:br/>
            <a:r>
              <a:t>Mese 6-8</a:t>
            </a:r>
            <a:br/>
            <a:r>
              <a:t>(scenario base)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800"/>
                </a:solidFill>
              </a:defRPr>
            </a:pPr>
            <a:r>
              <a:t>⚠️ Sparring (T026): CAC e churn tendono a deteriorarsi insieme nei primi 90gg — scenario congiunto non modellato.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P&amp;L Anno 1 — Tre Scenari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4031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521208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Voce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Conservativo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E000"/>
                          </a:solidFill>
                        </a:defRPr>
                      </a:pPr>
                      <a:r>
                        <a:t>Ottimistico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Clienti attivi (fine Y1)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40-60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80-120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180-250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€30-45K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€70-100K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€150-220K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COGS (45-56% rev)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€14-22K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€32-48K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€68-100K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€16-23K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€38-52K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€82-120K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Marketing (30% rev)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€9-14K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€21-30K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€45-66K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Fulfillment (10% rev)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€3-5K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€7-10K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€15-22K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Fissi (tech+admin+legal)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€18-24K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€18-24K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€24-30K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– €14/–9K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+ €6K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+ €43K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Break-even (mese)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Non raggiunto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Mese 8-10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Mese 5-6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355080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</a:defRPr>
            </a:pPr>
            <a:r>
              <a:t>Il break-even richiede 118-159 clienti attivi. Scenario conservativo (40-60 clienti): perdita Anno 1 normale per DTC in lancio.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Funding Needs — Cosa Compra Ogni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794760" cy="562356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794760" cy="594360"/>
          </a:xfrm>
          <a:prstGeom prst="rect">
            <a:avLst/>
          </a:prstGeom>
          <a:solidFill>
            <a:srgbClr val="E4001F"/>
          </a:solidFill>
          <a:ln>
            <a:solidFill>
              <a:srgbClr val="E40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33271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€ 50K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E000"/>
                </a:solidFill>
              </a:defRPr>
            </a:pPr>
            <a:r>
              <a:t>Budget minimo</a:t>
            </a:r>
            <a:br/>
            <a:r>
              <a:t>(rischioso)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3611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Sviluppo + 1° lotto 1 SKU: €28-35K</a:t>
            </a:r>
            <a:br/>
            <a:r>
              <a:t>• Sito base: €2-3K</a:t>
            </a:r>
            <a:br/>
            <a:r>
              <a:t>• 3 mesi paid: €8-12K</a:t>
            </a:r>
            <a:br/>
            <a:r>
              <a:t>• Legale+UIBM: €5K</a:t>
            </a:r>
            <a:br/>
            <a:br/>
            <a:r>
              <a:t>⚠️ MOQ multi-SKU (€40-80K) può esaurire</a:t>
            </a:r>
            <a:br/>
            <a:r>
              <a:t>il budget prima del lancio</a:t>
            </a:r>
            <a:br/>
            <a:br/>
            <a:r>
              <a:t>Prob. break-even Y1: &lt;30%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005840"/>
            <a:ext cx="3794760" cy="562356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005840"/>
            <a:ext cx="3794760" cy="594360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1033271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€ 150K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1" y="166420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E000"/>
                </a:solidFill>
              </a:defRPr>
            </a:pPr>
            <a:r>
              <a:t>Budget raccomandato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2103120"/>
            <a:ext cx="3611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Sviluppo + 2 SKU: €45-60K</a:t>
            </a:r>
            <a:br/>
            <a:r>
              <a:t>• Sito+CRM+automaz.: €5-8K</a:t>
            </a:r>
            <a:br/>
            <a:r>
              <a:t>• 10-12 mesi paid+influencer: €50-70K</a:t>
            </a:r>
            <a:br/>
            <a:r>
              <a:t>• Brand launch (shooting+contenuti): €10-15K</a:t>
            </a:r>
            <a:br/>
            <a:r>
              <a:t>• Buffer operativo: €15-20K</a:t>
            </a:r>
            <a:br/>
            <a:br/>
            <a:r>
              <a:t>Prob. break-even Y1: 50-60%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3" y="1005840"/>
            <a:ext cx="3794760" cy="562356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3" y="1005840"/>
            <a:ext cx="3794760" cy="594360"/>
          </a:xfrm>
          <a:prstGeom prst="rect">
            <a:avLst/>
          </a:prstGeom>
          <a:solidFill>
            <a:srgbClr val="00AAFF"/>
          </a:solidFill>
          <a:ln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3" y="1033271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€ 300K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3" y="166420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E000"/>
                </a:solidFill>
              </a:defRPr>
            </a:pPr>
            <a:r>
              <a:t>Lancio aggressivo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3" y="2103120"/>
            <a:ext cx="3611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Come €150K +</a:t>
            </a:r>
            <a:br/>
            <a:r>
              <a:t>• Scale paid acquisition M3+: +€80-100K</a:t>
            </a:r>
            <a:br/>
            <a:r>
              <a:t>• Retail partnership test: €10-20K</a:t>
            </a:r>
            <a:br/>
            <a:r>
              <a:t>• PR e seeding press: €15-20K</a:t>
            </a:r>
            <a:br/>
            <a:br/>
            <a:r>
              <a:t>Prob. break-even Y1: 65-75%</a:t>
            </a:r>
            <a:br/>
            <a:r>
              <a:t>Prob. break-even M8-9: alta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Kill Conditions — Quando BRUTO è una Cattiva Scelta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868680" cy="1298448"/>
          </a:xfrm>
          <a:prstGeom prst="rect">
            <a:avLst/>
          </a:prstGeom>
          <a:solidFill>
            <a:srgbClr val="E4001F"/>
          </a:solidFill>
          <a:ln>
            <a:solidFill>
              <a:srgbClr val="E40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24128"/>
            <a:ext cx="10680192" cy="1298448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088136"/>
            <a:ext cx="10378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4001F"/>
                </a:solidFill>
              </a:defRPr>
            </a:pPr>
            <a:r>
              <a:t>Il prodotto usa ingredienti opachi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10378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BRUTO dice "carne = carne" ma il co-packer usa "proteine animali" anonime. La community di Chiara pubblica la review con screenshot. Nessun recovery. Kill condition strutturale.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59736"/>
            <a:ext cx="868680" cy="1298448"/>
          </a:xfrm>
          <a:prstGeom prst="rect">
            <a:avLst/>
          </a:prstGeom>
          <a:solidFill>
            <a:srgbClr val="E4001F"/>
          </a:solidFill>
          <a:ln>
            <a:solidFill>
              <a:srgbClr val="E40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807208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2459736"/>
            <a:ext cx="10680192" cy="1298448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523744"/>
            <a:ext cx="10378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4001F"/>
                </a:solidFill>
              </a:defRPr>
            </a:pPr>
            <a:r>
              <a:t>Budget totale &lt;€100K senza possibilità di reintegro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44368"/>
            <a:ext cx="10378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Il primo lotto multi-SKU è stimato €40-80K. Con €50K totali si esaurisce la cassa prima del lancio reale. Non è un problema del brand — è di timing con budget insufficiente.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95344"/>
            <a:ext cx="868680" cy="1298448"/>
          </a:xfrm>
          <a:prstGeom prst="rect">
            <a:avLst/>
          </a:prstGeom>
          <a:solidFill>
            <a:srgbClr val="E4001F"/>
          </a:solidFill>
          <a:ln>
            <a:solidFill>
              <a:srgbClr val="E40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242816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3895344"/>
            <a:ext cx="10680192" cy="1298448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959352"/>
            <a:ext cx="10378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4001F"/>
                </a:solidFill>
              </a:defRPr>
            </a:pPr>
            <a:r>
              <a:t>Consumer test: rigetto &gt;35% del nome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79976"/>
            <a:ext cx="10378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Se "bruto" viene letto come violento/maleducato da &gt;35% del target, rivedi prima di investire il budget principale. È la kill condition più controllabile: €380-570 e 2-3 settimane.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30952"/>
            <a:ext cx="868680" cy="1298448"/>
          </a:xfrm>
          <a:prstGeom prst="rect">
            <a:avLst/>
          </a:prstGeom>
          <a:solidFill>
            <a:srgbClr val="E4001F"/>
          </a:solidFill>
          <a:ln>
            <a:solidFill>
              <a:srgbClr val="E40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678424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5330952"/>
            <a:ext cx="10680192" cy="1298448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394960"/>
            <a:ext cx="10378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4001F"/>
                </a:solidFill>
              </a:defRPr>
            </a:pPr>
            <a:r>
              <a:t>Team senza competenze food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15584"/>
            <a:ext cx="10378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Un deck di brand brillante ≠ impresa alimentare operativa. BrewDog: anti-mktg + execution carente = caduta pubblica. Nel pet food, l'impatto sulla salute dell'animale amplifica il rischio reputazionale.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Go Conditions — Quando BRUTO è un Buon Investimento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868680" cy="1298448"/>
          </a:xfrm>
          <a:prstGeom prst="rect">
            <a:avLst/>
          </a:prstGeom>
          <a:solidFill>
            <a:srgbClr val="00AAFF"/>
          </a:solidFill>
          <a:ln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24128"/>
            <a:ext cx="10680192" cy="1298448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088136"/>
            <a:ext cx="10378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AFF"/>
                </a:solidFill>
              </a:defRPr>
            </a:pPr>
            <a:r>
              <a:t>Consumer testing: ≥60% positivo su nome + tagline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10378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≥60% positivo/neutro su 'bruto' + 'Nutri l'Istinto' classificata top 1 per differenziazione + packaging notato per primo da ≥40%. Customer profile validato con dati primari.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59736"/>
            <a:ext cx="868680" cy="1298448"/>
          </a:xfrm>
          <a:prstGeom prst="rect">
            <a:avLst/>
          </a:prstGeom>
          <a:solidFill>
            <a:srgbClr val="00AAFF"/>
          </a:solidFill>
          <a:ln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807208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2459736"/>
            <a:ext cx="10680192" cy="1298448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523744"/>
            <a:ext cx="10378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AFF"/>
                </a:solidFill>
              </a:defRPr>
            </a:pPr>
            <a:r>
              <a:t>Co-packer con clean label identificato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44368"/>
            <a:ext cx="10378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Co-packer italiano certificato, MOQ &lt;1.500 sacchi/SKU, denominazione proteica specifica (zero sottoprodotti anonimi), lead time &lt;4 mesi. La promessa 'carne = carne' diventa verificabile.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95344"/>
            <a:ext cx="868680" cy="1298448"/>
          </a:xfrm>
          <a:prstGeom prst="rect">
            <a:avLst/>
          </a:prstGeom>
          <a:solidFill>
            <a:srgbClr val="00AAFF"/>
          </a:solidFill>
          <a:ln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242816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3895344"/>
            <a:ext cx="10680192" cy="1298448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959352"/>
            <a:ext cx="10378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AFF"/>
                </a:solidFill>
              </a:defRPr>
            </a:pPr>
            <a:r>
              <a:t>Budget confermato ≥€150K con runway 12 mesi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79976"/>
            <a:ext cx="10378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Prob. break-even Y1: 50-60%. Con €300K: 65-75%. Al di sopra di €150K il modello non dipende dalla viralità per sopravvivere — dipende da execution competente.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30952"/>
            <a:ext cx="868680" cy="1298448"/>
          </a:xfrm>
          <a:prstGeom prst="rect">
            <a:avLst/>
          </a:prstGeom>
          <a:solidFill>
            <a:srgbClr val="00AAFF"/>
          </a:solidFill>
          <a:ln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678424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5330952"/>
            <a:ext cx="10680192" cy="1298448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394960"/>
            <a:ext cx="10378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AFF"/>
                </a:solidFill>
              </a:defRPr>
            </a:pPr>
            <a:r>
              <a:t>Team con almeno una persona con background food/DTC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15584"/>
            <a:ext cx="10378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Non necessariamente i fondatori: un advisor DTC con track record, un consulente co-packing pet food, o Sara come Fractional CMO con esperienza F&amp;B operativa.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Livello di Confidenza — God Mode (T027)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663440" cy="338328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E000"/>
                </a:solidFill>
              </a:defRPr>
            </a:pPr>
            <a:r>
              <a:t>45-55%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546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Confidenza attuale</a:t>
            </a:r>
            <a:br/>
            <a:r>
              <a:t>(God Mode — T027)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12080" y="960120"/>
          <a:ext cx="67208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420"/>
                <a:gridCol w="3360420"/>
              </a:tblGrid>
              <a:tr h="483325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E000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E000"/>
                          </a:solidFill>
                        </a:defRPr>
                      </a:pPr>
                      <a:r>
                        <a:t>Confidenza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Attuale (senza validazioni)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45-55%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+ Consumer test positivo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60-65%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+ Co-packer + clean label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+ Budget ≥€150K confermato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75%+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Consumer test rigetto &gt;35%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&lt; 25%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Budget &lt;€80K senza reintegro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&lt; 25%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4572000"/>
            <a:ext cx="116403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La confidenza non è bassa perché BRUTO è un concetto debole.</a:t>
            </a:r>
            <a:br/>
            <a:r>
              <a:t>È perché le condizioni di validazione non sono ancora soddisfatte.</a:t>
            </a:r>
            <a:br/>
            <a:r>
              <a:t>Il posizionamento è differenziante e il white space è reale —</a:t>
            </a:r>
            <a:br/>
            <a:r>
              <a:t>ma quattro assunzioni fondamentali restano prive di evidenza empirica.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807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800"/>
                </a:solidFill>
              </a:defRPr>
            </a:pPr>
            <a:r>
              <a:t>4 GAP CRITICI APERTI: formulazione prodotto · co-packer reale · consumer testing · conformità MIPAF/UE 767/2009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Consumer Testing — Piano Operativo (sequenza condizionale)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4031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901"/>
                <a:gridCol w="1662901"/>
                <a:gridCol w="1662901"/>
                <a:gridCol w="1662901"/>
                <a:gridCol w="1662901"/>
                <a:gridCol w="1662901"/>
                <a:gridCol w="1662906"/>
              </a:tblGrid>
              <a:tr h="1024128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E000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E000"/>
                          </a:solidFill>
                        </a:defRPr>
                      </a:pPr>
                      <a:r>
                        <a:t>Cosa si testa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E000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E000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E000"/>
                          </a:solidFill>
                        </a:defRPr>
                      </a:pPr>
                      <a:r>
                        <a:t>Costo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E000"/>
                          </a:solidFill>
                        </a:defRPr>
                      </a:pPr>
                      <a:r>
                        <a:t>Tempo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E00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FASE 1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(sempre)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Nome 'BRUTO'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Free assoc. · Purchase intent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Rigetto emotivo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Pollfish Italy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100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prop. cani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25-45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€300-450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Sett 1-2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≥60%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positivo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FASE 2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(se F1 ✅)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Tagline 'Nutri l'Istinto'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vs. 3 alternative · Comprensione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Pollfish Italy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(IT panel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obbligatorio)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€300-450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Sett 2-3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Top 1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differenz.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FASE 3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(se F2 ✅)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Visual palette + packaging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Shelf test simulato · Noticeability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Maze.co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€600-900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Sett 3-4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≥40%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notato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prima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FASE 4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(opzionale)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Chihuahua borchiato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Mascot perception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Punk vs. cute?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Pollfish Italy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€300-450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Sett 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≥55%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distintivo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263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Budget minimo robusto (F1+F2): €600-900  ·  Budget completo (F1-F4): €1.500-2.250 autogestito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+ Panel organico gratuito (FB groups pet IT + Reddit) per coorte psicografica ~50 persone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E000"/>
                </a:solidFill>
              </a:defRPr>
            </a:pPr>
            <a:r>
              <a:t>THE ONE 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024128"/>
            <a:ext cx="8897112" cy="64008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45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Consumer testing del nome 'BRUTO'</a:t>
            </a:r>
            <a:br/>
            <a:r>
              <a:t>e della tagline 'Nutri l'Istinto'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999232"/>
            <a:ext cx="8897112" cy="64008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3154680"/>
          <a:ext cx="944575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2876"/>
                <a:gridCol w="4722876"/>
              </a:tblGrid>
              <a:tr h="66294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E000"/>
                          </a:solidFill>
                        </a:defRPr>
                      </a:pPr>
                      <a:r>
                        <a:t>Cosa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E000"/>
                          </a:solidFill>
                        </a:defRPr>
                      </a:pPr>
                      <a:r>
                        <a:t>Pollfish Italy · n=100 proprietari cani 25-45 acquirenti online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Quanto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€ 380-570  (Fase 1 + Fase 2)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Quando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2-3 settimane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Perché prima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Se 'bruto' viene rifiutato da &gt;35% del target, tutti gli altri investimenti sono a rischio.</a:t>
                      </a:r>
                    </a:p>
                    <a:p>
                      <a:pPr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Costo dell'errore: €380 ora  vs.  €150.000+ dopo.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</a:defRPr>
            </a:pPr>
            <a:r>
              <a:t>God Mode — T027  ·  TTP AI Agency 2026-05-20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50292"/>
          </a:xfrm>
          <a:prstGeom prst="rect">
            <a:avLst/>
          </a:prstGeom>
          <a:solidFill>
            <a:srgbClr val="FFE000"/>
          </a:solidFill>
          <a:ln>
            <a:solidFill>
              <a:srgbClr val="FFE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E000"/>
                </a:solidFill>
              </a:defRPr>
            </a:pPr>
            <a:r>
              <a:t>Prossimi Passi — Sequenza Raccomandata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148840" cy="9875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20700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E000"/>
                </a:solidFill>
              </a:defRPr>
            </a:pPr>
            <a:r>
              <a:t>Sett. 1-2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005840"/>
            <a:ext cx="9400032" cy="9875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106070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000"/>
                </a:solidFill>
              </a:defRPr>
            </a:pPr>
            <a:r>
              <a:t>Consumer test nome + tagline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14630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Pollfish Italy · €380-570 · Panel organico FB/Reddit aggiuntivo gratuito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21408"/>
            <a:ext cx="2148840" cy="9875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32257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AFF"/>
                </a:solidFill>
              </a:defRPr>
            </a:pPr>
            <a:r>
              <a:t>Sett. 2-4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121408"/>
            <a:ext cx="9400032" cy="9875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21762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AFF"/>
                </a:solidFill>
              </a:defRPr>
            </a:pPr>
            <a:r>
              <a:t>Preventivo co-packer + formulazione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57860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≥2 co-packer IT certificati · clean label · MOQ · lead time · denominazioni specifiche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36976"/>
            <a:ext cx="2148840" cy="9875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43814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66"/>
                </a:solidFill>
              </a:defRPr>
            </a:pPr>
            <a:r>
              <a:t>Sett. 3-4 (se ✅)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3236976"/>
            <a:ext cx="9400032" cy="9875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32918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66"/>
                </a:solidFill>
              </a:defRPr>
            </a:pPr>
            <a:r>
              <a:t>Consumer test visual + mascot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3694176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Maze.co shelf test · €600-900 · Solo se F1 e F2 passano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52544"/>
            <a:ext cx="2148840" cy="9875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45537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800"/>
                </a:solidFill>
              </a:defRPr>
            </a:pPr>
            <a:r>
              <a:t>Mese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4352544"/>
            <a:ext cx="9400032" cy="9875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33472" y="4407407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800"/>
                </a:solidFill>
              </a:defRPr>
            </a:pPr>
            <a:r>
              <a:t>Conferma budget e team operativo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4809744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Budget min. €150K · Advisor food/DTC · Numero deposito UIBM da richiedere a Nicole&amp;Thaise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68112"/>
            <a:ext cx="2148840" cy="9875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566927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Mese 3 — GO/NO-GO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5468112"/>
            <a:ext cx="9400032" cy="987552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3472" y="5522975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Decisione investimento pieno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3472" y="59253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Se test positivo + co-packer + budget → Procedi. Confidenza stimata: 75%+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4444"/>
                </a:solidFill>
              </a:defRPr>
            </a:pPr>
            <a:r>
              <a:t>File analisi completa: clients/test_dog_food/projects/bruto_analysis/findings/  ·  TTP AI Agency 2026-05-20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